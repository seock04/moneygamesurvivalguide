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4f776a5624a85" /><Relationship Type="http://schemas.openxmlformats.org/officeDocument/2006/relationships/extended-properties" Target="/docProps/app.xml" Id="R9fcb3570d3734c07" /><Relationship Type="http://schemas.openxmlformats.org/officeDocument/2006/relationships/officeDocument" Target="/ppt/presentation.xml" Id="R858c829c7e8d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d52bce7ff41d2"/>
  </p:sldMasterIdLst>
  <p:notesMasterIdLst>
    <p:notesMasterId xmlns:r="http://schemas.openxmlformats.org/officeDocument/2006/relationships" r:id="R85b445a90a5e41d4"/>
  </p:notesMasterIdLst>
  <p:sldIdLst>
    <p:sldId xmlns:r="http://schemas.openxmlformats.org/officeDocument/2006/relationships" id="256" r:id="Re531c3982d9a4055"/>
    <p:sldId xmlns:r="http://schemas.openxmlformats.org/officeDocument/2006/relationships" id="257" r:id="R0063ce2de4dc4bc4"/>
    <p:sldId xmlns:r="http://schemas.openxmlformats.org/officeDocument/2006/relationships" id="258" r:id="R974cb7f34ee2428a"/>
    <p:sldId xmlns:r="http://schemas.openxmlformats.org/officeDocument/2006/relationships" id="259" r:id="R47d34358b56647e5"/>
    <p:sldId xmlns:r="http://schemas.openxmlformats.org/officeDocument/2006/relationships" id="260" r:id="Rd19ea2018f4b4740"/>
    <p:sldId xmlns:r="http://schemas.openxmlformats.org/officeDocument/2006/relationships" id="261" r:id="R83f3de38c2da46d5"/>
    <p:sldId xmlns:r="http://schemas.openxmlformats.org/officeDocument/2006/relationships" id="262" r:id="R632d973c3a654187"/>
    <p:sldId xmlns:r="http://schemas.openxmlformats.org/officeDocument/2006/relationships" id="263" r:id="R86db0e4f627a4fc2"/>
    <p:sldId xmlns:r="http://schemas.openxmlformats.org/officeDocument/2006/relationships" id="264" r:id="R63d6424dcf604f17"/>
    <p:sldId xmlns:r="http://schemas.openxmlformats.org/officeDocument/2006/relationships" id="265" r:id="Raac900c6bab541b4"/>
    <p:sldId xmlns:r="http://schemas.openxmlformats.org/officeDocument/2006/relationships" id="266" r:id="Raaa3716cb6d44d20"/>
    <p:sldId xmlns:r="http://schemas.openxmlformats.org/officeDocument/2006/relationships" id="267" r:id="R239daac35c1c480d"/>
    <p:sldId xmlns:r="http://schemas.openxmlformats.org/officeDocument/2006/relationships" id="268" r:id="Rfe77bf0ad9514e52"/>
    <p:sldId xmlns:r="http://schemas.openxmlformats.org/officeDocument/2006/relationships" id="269" r:id="Rca1d8d45c14a436d"/>
    <p:sldId xmlns:r="http://schemas.openxmlformats.org/officeDocument/2006/relationships" id="270" r:id="R97c4084ff13d4c35"/>
    <p:sldId xmlns:r="http://schemas.openxmlformats.org/officeDocument/2006/relationships" id="271" r:id="Rbd0eb0a13fd54534"/>
    <p:sldId xmlns:r="http://schemas.openxmlformats.org/officeDocument/2006/relationships" id="272" r:id="R609c1705358b4be4"/>
    <p:sldId xmlns:r="http://schemas.openxmlformats.org/officeDocument/2006/relationships" id="273" r:id="Rf6ea30d70e8c4ee7"/>
    <p:sldId xmlns:r="http://schemas.openxmlformats.org/officeDocument/2006/relationships" id="274" r:id="Rdf796b39875640ae"/>
    <p:sldId xmlns:r="http://schemas.openxmlformats.org/officeDocument/2006/relationships" id="275" r:id="R8cc6ccac46ef4a09"/>
    <p:sldId xmlns:r="http://schemas.openxmlformats.org/officeDocument/2006/relationships" id="276" r:id="R995bfda99a3e40e0"/>
    <p:sldId xmlns:r="http://schemas.openxmlformats.org/officeDocument/2006/relationships" id="277" r:id="R0e9caedd7fc94220"/>
    <p:sldId xmlns:r="http://schemas.openxmlformats.org/officeDocument/2006/relationships" id="278" r:id="R2b36a587d45648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d52bce7ff41d2" /><Relationship Type="http://schemas.openxmlformats.org/officeDocument/2006/relationships/theme" Target="/ppt/theme/theme1.xml" Id="Rd5ac370e97324e52" /><Relationship Type="http://schemas.openxmlformats.org/officeDocument/2006/relationships/notesMaster" Target="/ppt/notesMasters/notesMaster1.xml" Id="R85b445a90a5e41d4" /><Relationship Type="http://schemas.openxmlformats.org/officeDocument/2006/relationships/presProps" Target="/ppt/presProps.xml" Id="Rcce5e48d20d74e57" /><Relationship Type="http://schemas.openxmlformats.org/officeDocument/2006/relationships/viewProps" Target="/ppt/viewProps.xml" Id="Ref9e369169244488" /><Relationship Type="http://schemas.openxmlformats.org/officeDocument/2006/relationships/tableStyles" Target="/ppt/tableStyles.xml" Id="Rc9cc45e0072b48cb" /><Relationship Type="http://schemas.openxmlformats.org/officeDocument/2006/relationships/slide" Target="/ppt/slides/slide1.xml" Id="Re531c3982d9a4055" /><Relationship Type="http://schemas.openxmlformats.org/officeDocument/2006/relationships/slide" Target="/ppt/slides/slide2.xml" Id="R0063ce2de4dc4bc4" /><Relationship Type="http://schemas.openxmlformats.org/officeDocument/2006/relationships/slide" Target="/ppt/slides/slide3.xml" Id="R974cb7f34ee2428a" /><Relationship Type="http://schemas.openxmlformats.org/officeDocument/2006/relationships/slide" Target="/ppt/slides/slide4.xml" Id="R47d34358b56647e5" /><Relationship Type="http://schemas.openxmlformats.org/officeDocument/2006/relationships/slide" Target="/ppt/slides/slide5.xml" Id="Rd19ea2018f4b4740" /><Relationship Type="http://schemas.openxmlformats.org/officeDocument/2006/relationships/slide" Target="/ppt/slides/slide6.xml" Id="R83f3de38c2da46d5" /><Relationship Type="http://schemas.openxmlformats.org/officeDocument/2006/relationships/slide" Target="/ppt/slides/slide7.xml" Id="R632d973c3a654187" /><Relationship Type="http://schemas.openxmlformats.org/officeDocument/2006/relationships/slide" Target="/ppt/slides/slide8.xml" Id="R86db0e4f627a4fc2" /><Relationship Type="http://schemas.openxmlformats.org/officeDocument/2006/relationships/slide" Target="/ppt/slides/slide9.xml" Id="R63d6424dcf604f17" /><Relationship Type="http://schemas.openxmlformats.org/officeDocument/2006/relationships/slide" Target="/ppt/slides/slide10.xml" Id="Raac900c6bab541b4" /><Relationship Type="http://schemas.openxmlformats.org/officeDocument/2006/relationships/slide" Target="/ppt/slides/slide11.xml" Id="Raaa3716cb6d44d20" /><Relationship Type="http://schemas.openxmlformats.org/officeDocument/2006/relationships/slide" Target="/ppt/slides/slide12.xml" Id="R239daac35c1c480d" /><Relationship Type="http://schemas.openxmlformats.org/officeDocument/2006/relationships/slide" Target="/ppt/slides/slide13.xml" Id="Rfe77bf0ad9514e52" /><Relationship Type="http://schemas.openxmlformats.org/officeDocument/2006/relationships/slide" Target="/ppt/slides/slide14.xml" Id="Rca1d8d45c14a436d" /><Relationship Type="http://schemas.openxmlformats.org/officeDocument/2006/relationships/slide" Target="/ppt/slides/slide15.xml" Id="R97c4084ff13d4c35" /><Relationship Type="http://schemas.openxmlformats.org/officeDocument/2006/relationships/slide" Target="/ppt/slides/slide16.xml" Id="Rbd0eb0a13fd54534" /><Relationship Type="http://schemas.openxmlformats.org/officeDocument/2006/relationships/slide" Target="/ppt/slides/slide17.xml" Id="R609c1705358b4be4" /><Relationship Type="http://schemas.openxmlformats.org/officeDocument/2006/relationships/slide" Target="/ppt/slides/slide18.xml" Id="Rf6ea30d70e8c4ee7" /><Relationship Type="http://schemas.openxmlformats.org/officeDocument/2006/relationships/slide" Target="/ppt/slides/slide19.xml" Id="Rdf796b39875640ae" /><Relationship Type="http://schemas.openxmlformats.org/officeDocument/2006/relationships/slide" Target="/ppt/slides/slide20.xml" Id="R8cc6ccac46ef4a09" /><Relationship Type="http://schemas.openxmlformats.org/officeDocument/2006/relationships/slide" Target="/ppt/slides/slide21.xml" Id="R995bfda99a3e40e0" /><Relationship Type="http://schemas.openxmlformats.org/officeDocument/2006/relationships/slide" Target="/ppt/slides/slide22.xml" Id="R0e9caedd7fc94220" /><Relationship Type="http://schemas.openxmlformats.org/officeDocument/2006/relationships/slide" Target="/ppt/slides/slide23.xml" Id="R2b36a587d45648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eb1d2b69ca0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0c8cd87ce4755" /><Relationship Type="http://schemas.openxmlformats.org/officeDocument/2006/relationships/notesMaster" Target="/ppt/notesMasters/notesMaster1.xml" Id="Rd472f7e79d8145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4b57ec98cb4196" /><Relationship Type="http://schemas.openxmlformats.org/officeDocument/2006/relationships/notesMaster" Target="/ppt/notesMasters/notesMaster1.xml" Id="Rd7491ca5ba50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cf0ec4c03348c6" /><Relationship Type="http://schemas.openxmlformats.org/officeDocument/2006/relationships/notesMaster" Target="/ppt/notesMasters/notesMaster1.xml" Id="Rfad71adf8bc3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d023c042c4cf3" /><Relationship Type="http://schemas.openxmlformats.org/officeDocument/2006/relationships/notesMaster" Target="/ppt/notesMasters/notesMaster1.xml" Id="Rd4a004f55c34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ce3fa30b84be5" /><Relationship Type="http://schemas.openxmlformats.org/officeDocument/2006/relationships/notesMaster" Target="/ppt/notesMasters/notesMaster1.xml" Id="Rc4f3762b18c7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215ba5e6a4042" /><Relationship Type="http://schemas.openxmlformats.org/officeDocument/2006/relationships/notesMaster" Target="/ppt/notesMasters/notesMaster1.xml" Id="Ree87d4007e0c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a890658d34d4e" /><Relationship Type="http://schemas.openxmlformats.org/officeDocument/2006/relationships/notesMaster" Target="/ppt/notesMasters/notesMaster1.xml" Id="Rdf551b8555a549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8be3cceb749f1" /><Relationship Type="http://schemas.openxmlformats.org/officeDocument/2006/relationships/notesMaster" Target="/ppt/notesMasters/notesMaster1.xml" Id="R5eadb995ad034f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62095248b420d" /><Relationship Type="http://schemas.openxmlformats.org/officeDocument/2006/relationships/notesMaster" Target="/ppt/notesMasters/notesMaster1.xml" Id="R37649051d6a841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4d9e3edcea40f7" /><Relationship Type="http://schemas.openxmlformats.org/officeDocument/2006/relationships/notesMaster" Target="/ppt/notesMasters/notesMaster1.xml" Id="Ra4a722715df3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bf9f9451b8466b" /><Relationship Type="http://schemas.openxmlformats.org/officeDocument/2006/relationships/notesMaster" Target="/ppt/notesMasters/notesMaster1.xml" Id="R1ecbf2feb87c4c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250f7336754fef" /><Relationship Type="http://schemas.openxmlformats.org/officeDocument/2006/relationships/notesMaster" Target="/ppt/notesMasters/notesMaster1.xml" Id="R7b6d54b334c44d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ed12e78ece4013" /><Relationship Type="http://schemas.openxmlformats.org/officeDocument/2006/relationships/notesMaster" Target="/ppt/notesMasters/notesMaster1.xml" Id="R53c951ca506b48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47c930ba634ab1" /><Relationship Type="http://schemas.openxmlformats.org/officeDocument/2006/relationships/notesMaster" Target="/ppt/notesMasters/notesMaster1.xml" Id="R3e632d51d8b349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cb510e01444d78" /><Relationship Type="http://schemas.openxmlformats.org/officeDocument/2006/relationships/notesMaster" Target="/ppt/notesMasters/notesMaster1.xml" Id="R4dd4939726d14d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b4e8656494471d" /><Relationship Type="http://schemas.openxmlformats.org/officeDocument/2006/relationships/notesMaster" Target="/ppt/notesMasters/notesMaster1.xml" Id="R4f439e39b3904d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761fa99d8645c9" /><Relationship Type="http://schemas.openxmlformats.org/officeDocument/2006/relationships/notesMaster" Target="/ppt/notesMasters/notesMaster1.xml" Id="Rb029e0e4c04e44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8babea88af4a62" /><Relationship Type="http://schemas.openxmlformats.org/officeDocument/2006/relationships/notesMaster" Target="/ppt/notesMasters/notesMaster1.xml" Id="Re33103c6d92e44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233269b7ce4c64" /><Relationship Type="http://schemas.openxmlformats.org/officeDocument/2006/relationships/notesMaster" Target="/ppt/notesMasters/notesMaster1.xml" Id="Rfb4250194c7049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0b680cb8834b5f" /><Relationship Type="http://schemas.openxmlformats.org/officeDocument/2006/relationships/notesMaster" Target="/ppt/notesMasters/notesMaster1.xml" Id="Rc8388fbaa72e46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a667a3713f43cc" /><Relationship Type="http://schemas.openxmlformats.org/officeDocument/2006/relationships/notesMaster" Target="/ppt/notesMasters/notesMaster1.xml" Id="Rfac3ca4baeee48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722e24f7164392" /><Relationship Type="http://schemas.openxmlformats.org/officeDocument/2006/relationships/notesMaster" Target="/ppt/notesMasters/notesMaster1.xml" Id="R30b54828d0b44a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bff21591bd40dd" /><Relationship Type="http://schemas.openxmlformats.org/officeDocument/2006/relationships/notesMaster" Target="/ppt/notesMasters/notesMaster1.xml" Id="Rfbccaa19c0d2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자료는 강의안이 아니라 대화를 돕는 지도라고 설명한다. 화면의 문장을 모두 외우는 것이 목적이 아니라, 각자의 돈 관리 시스템을 한 장씩 세팅하는 것이 목적이라고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3회차 전체 여정을 먼저 보여준다. 1회차는 돈으로 지키고 싶은 삶과 현재 숫자를 확인하고, 2회차는 돈이 자동으로 흐르게 만들며, 3회차는 하락장과 비교심에도 꺼지지 않는 규칙을 만든다고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투자 상품을 고르는 시간이 아니라 방향과 현재 좌표를 고정하는 시간이라고 안내한다. 참여자가 투자 상품부터 묻더라도 북극성, 현금흐름, 비상금으로 돌아온다고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책 1장과 9장의 관점을 연결해 설명한다. 오늘의 코칭은 부끄러운 숫자를 평가하는 시간이 아니라 로그아웃하지 않기 위한 기본 설정을 만드는 시간이라고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참여자에게 2분 동안 돈으로 해결하고 싶은 문제가 아니라 돈으로 지키고 싶은 삶의 장면을 말해보게 한다. 답이 추상적이면 '그 장면이 실제 하루에서 어떻게 보이는가?'라고 다시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북극성을 실행 가능한 목표로 번역한다. 기한, 금액/상태, 매달 행동 중 비어 있는 칸을 함께 채운다. 금액을 모르면 범위로 적어도 된다고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6장의 핵심처럼 재무상태표는 성적표가 아니라 길찾기 도구라고 설명한다. 참여자에게 각 칸을 대략 말하게 하고, 모르는 숫자는 '모름'으로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작성한 인벤토리에서 당장 고칠 항목을 하나만 고른다. 판단 기준은 가장 큰 금액이 아니라, 다음 7일 안에 확인하거나 조정할 수 있는 항목이다.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숙제를 작게 고정한다. 참여자가 더 하겠다고 해도 기본 숙제는 2개로 제한한다. 다음 회차는 이 숫자를 바탕으로 자동화 구조를 만든다고 예고한다.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회차 숙제를 확인하되, 실행 여부보다 막힌 이유를 먼저 묻는다. 숫자가 덜 완성되어도 자동화 설계는 작게 시작할 수 있다고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2장의 자동 사냥 개념을 설명한다. 자동화는 부지런함을 증명하는 장치가 아니라, 감정이 흔들릴 때 기본값을 지키는 방화벽이라고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참여자의 실제 계좌명을 말하게 하지 않아도 된다. 역할만 먼저 정한다. 생활비 통장은 써도 되는 돈, 비상금은 팔지 않게 지켜주는 돈, 저축/투자는 먼저 빠져나가는 돈이라고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참여자에게 이번 주 실제로 실행 가능한 자동이체 하나를 고르게 한다. 금액은 작아도 되고, 중요한 것은 매달 같은 방향으로 흐르는 구조라고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8장의 따뜻하고 대충 합리적인 투자 원칙을 적용한다. 수익률 숫자보다 생활비를 침범하지 않는지, 밤에 잠을 잘 수 있는지, 하락장에도 끄지 않을 수 있는지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참여자에게 줄일 소비가 아니라 북극성과 어긋나는 소비를 고르게 한다. 즐거움이나 성장에 필요한 소비를 없애는 것이 아니라, 다음 달 선택권을 줄이는 반복 지출을 찾는다.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성공보다 실행 데이터를 얻는 것이 중요하다고 설명한다. 실행이 막히면 의지 부족이 아니라 금액, 날짜, 계좌 구조를 조정해야 한다고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회차는 더 센 투자법을 배우는 시간이 아니라, 시스템이 꺼지지 않도록 방어선을 그리는 시간이라고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9장의 비상금 개념을 설명한다. 참여자의 직업 안정성, 가족 책임, 월 고정비를 고려해 최소 몇 개월치 생활비가 필요한지 대화한다.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참여자에게 자기 시스템을 망가뜨릴 가능성이 가장 큰 행동 하나를 고르게 한다. 금지 규칙은 처벌이 아니라 생존을 위한 울타리라고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11장과 12장의 원칙을 연결한다. 비율은 정답이 아니라 출발점이며, 나이, 소득 안정성, 부양가족, 투자 기간, 마음의 변동성에 따라 조정한다고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참여자와 함께 하락장 대응 수칙 3줄을 쓴다. 시장 예측 문장이 아니라 행동 제한 문장으로 쓰게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설계 문서의 12주 실행 플랜에서 참여자에게 맞는 행동만 고른다. 매주 10분 행동, 월 1회 점검, 4주 후 캘린더 리마인드를 실제로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3회차 전체를 요약한다. 참여자가 가져갈 것은 완벽한 포트폴리오가 아니라 자기 삶을 무너뜨리지 않는 돈 관리 기본값이라고 정리한다. 마지막으로 4주 후 점검 일정을 확인하고 마친다.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b8dbe2dcd43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6d5191fd524ce7" /><Relationship Type="http://schemas.openxmlformats.org/officeDocument/2006/relationships/slideLayout" Target="/ppt/slideLayouts/slideLayout2.xml" Id="R31fc943c2f2a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c943c2f2a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e943be5934af5" /><Relationship Type="http://schemas.openxmlformats.org/officeDocument/2006/relationships/image" Target="/ppt/media/image.png" Id="R7cca0e49fce84747" /><Relationship Type="http://schemas.openxmlformats.org/officeDocument/2006/relationships/notesSlide" Target="/ppt/notesSlides/notesSlide1.xml" Id="R5045523e075f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142bc686744915" /><Relationship Type="http://schemas.openxmlformats.org/officeDocument/2006/relationships/notesSlide" Target="/ppt/notesSlides/notesSlide2.xml" Id="Rc996dd04f2f4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da06928be43a8" /><Relationship Type="http://schemas.openxmlformats.org/officeDocument/2006/relationships/image" Target="/ppt/media/image2.png" Id="Rda83963396954c64" /><Relationship Type="http://schemas.openxmlformats.org/officeDocument/2006/relationships/notesSlide" Target="/ppt/notesSlides/notesSlide3.xml" Id="Rb8046df19444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436e83138d46a0" /><Relationship Type="http://schemas.openxmlformats.org/officeDocument/2006/relationships/notesSlide" Target="/ppt/notesSlides/notesSlide4.xml" Id="Rf7738d9dcb4049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fcda30a1ff4664" /><Relationship Type="http://schemas.openxmlformats.org/officeDocument/2006/relationships/notesSlide" Target="/ppt/notesSlides/notesSlide5.xml" Id="R2fb1dfd2289f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c86741c6e47a8" /><Relationship Type="http://schemas.openxmlformats.org/officeDocument/2006/relationships/notesSlide" Target="/ppt/notesSlides/notesSlide6.xml" Id="R775ba5b44bbb4d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4776fc8524652" /><Relationship Type="http://schemas.openxmlformats.org/officeDocument/2006/relationships/notesSlide" Target="/ppt/notesSlides/notesSlide7.xml" Id="R969f501e8a3c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b768e92596413b" /><Relationship Type="http://schemas.openxmlformats.org/officeDocument/2006/relationships/notesSlide" Target="/ppt/notesSlides/notesSlide8.xml" Id="R216f11a21ff54b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5f5cf00a244cc" /><Relationship Type="http://schemas.openxmlformats.org/officeDocument/2006/relationships/notesSlide" Target="/ppt/notesSlides/notesSlide9.xml" Id="R76d05ee68a5349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b01f6003e4eed" /><Relationship Type="http://schemas.openxmlformats.org/officeDocument/2006/relationships/image" Target="/ppt/media/image3.png" Id="R685e6b187ad74eec" /><Relationship Type="http://schemas.openxmlformats.org/officeDocument/2006/relationships/notesSlide" Target="/ppt/notesSlides/notesSlide10.xml" Id="R14cc3ad576a845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3317aef1ad4c10" /><Relationship Type="http://schemas.openxmlformats.org/officeDocument/2006/relationships/notesSlide" Target="/ppt/notesSlides/notesSlide11.xml" Id="Ref03f28f511d4a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ba9262e6241c2" /><Relationship Type="http://schemas.openxmlformats.org/officeDocument/2006/relationships/notesSlide" Target="/ppt/notesSlides/notesSlide12.xml" Id="Rd0ccc15da2704e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74a0e3e764c1d" /><Relationship Type="http://schemas.openxmlformats.org/officeDocument/2006/relationships/notesSlide" Target="/ppt/notesSlides/notesSlide13.xml" Id="Re6fff2af9dd043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fc332380d64db2" /><Relationship Type="http://schemas.openxmlformats.org/officeDocument/2006/relationships/notesSlide" Target="/ppt/notesSlides/notesSlide14.xml" Id="R7069ca75c2f84e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dd692f955744c9" /><Relationship Type="http://schemas.openxmlformats.org/officeDocument/2006/relationships/notesSlide" Target="/ppt/notesSlides/notesSlide15.xml" Id="R59c9c445be1f42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efc81a4bb04e1b" /><Relationship Type="http://schemas.openxmlformats.org/officeDocument/2006/relationships/notesSlide" Target="/ppt/notesSlides/notesSlide16.xml" Id="R47745e4dea404b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ab9cc05b94f3a" /><Relationship Type="http://schemas.openxmlformats.org/officeDocument/2006/relationships/image" Target="/ppt/media/image4.png" Id="R19de189bbf26443b" /><Relationship Type="http://schemas.openxmlformats.org/officeDocument/2006/relationships/notesSlide" Target="/ppt/notesSlides/notesSlide17.xml" Id="R52cecb43f8fd44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cdd16080a4d48" /><Relationship Type="http://schemas.openxmlformats.org/officeDocument/2006/relationships/notesSlide" Target="/ppt/notesSlides/notesSlide18.xml" Id="R81d01c48fe8449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289773ae4443b" /><Relationship Type="http://schemas.openxmlformats.org/officeDocument/2006/relationships/notesSlide" Target="/ppt/notesSlides/notesSlide19.xml" Id="R0d7d99bb697b4f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da071e53b4e18" /><Relationship Type="http://schemas.openxmlformats.org/officeDocument/2006/relationships/notesSlide" Target="/ppt/notesSlides/notesSlide20.xml" Id="R96ac6fa7b0ee41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ad151b063547f2" /><Relationship Type="http://schemas.openxmlformats.org/officeDocument/2006/relationships/notesSlide" Target="/ppt/notesSlides/notesSlide21.xml" Id="R3311f598ff1d4c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7c4f5881848c9" /><Relationship Type="http://schemas.openxmlformats.org/officeDocument/2006/relationships/notesSlide" Target="/ppt/notesSlides/notesSlide22.xml" Id="R3234fb04e48a42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3605d470b4d05" /><Relationship Type="http://schemas.openxmlformats.org/officeDocument/2006/relationships/image" Target="/ppt/media/image5.png" Id="R8833e18becbc43ea" /><Relationship Type="http://schemas.openxmlformats.org/officeDocument/2006/relationships/notesSlide" Target="/ppt/notesSlides/notesSlide23.xml" Id="Re3fe3372382b41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A1EC7-EC0B-4B72-BD2B-B9F303C1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122C3-DAA2-4DCF-84D5-0C34233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E3962-EA83-4E6C-B3D4-914FF87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3BC991F-E0FF-4163-B768-F64EFB96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8D133993-6B9D-4FE0-91C3-CF2350AF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ONLINE 1:1 COACHING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E3DE-3378-4B23-A056-0EEEC996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1EB90-5D84-438B-B098-5AAD01A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59531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부의 게임, 대충 뛰어들어 끝까지 살아남기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8C19-519C-444E-BDB7-25342C29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595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rPr>
              <a:t>3회차 1:1 반구조화 재무 코칭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95D96-6B28-4CA3-8742-D219CE7A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북극성 -&gt; 인벤토리 -&gt; 자동 사냥 -&gt; 생존 규칙 -&gt; 12주 루프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a0e49fce84747"/>
          <a:stretch xmlns:a="http://schemas.openxmlformats.org/drawingml/2006/main"/>
        </p:blipFill>
        <p:spPr>
          <a:xfrm xmlns:a="http://schemas.openxmlformats.org/drawingml/2006/main">
            <a:off x="7667625" y="1023938"/>
            <a:ext cx="2857500" cy="4286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2621E-C2E0-46E8-841B-3087005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9120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4837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1F923-9BDE-4600-8813-9D7AD95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76850-5D4E-43E1-9090-F6137138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A9C2D-D53C-46A9-899D-AB8A628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5F566533-9542-48DA-A906-8C5F7FE2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15726BC-11B4-4F71-A068-12A4E186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PROGRAM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0C10D-F2CF-4E64-A339-1D1A7EA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3AD4A-2125-40CD-B5F9-C4A928D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3회 동안 돈 관리의 기본값을 하나씩 켠다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F7AC7-8B0C-47E6-9534-B1F7E65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rPr>
              <a:t>각 회차는 설명보다 산출물을 남기는 방식으로 진행한다.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43E4C-9F62-4BB2-9EB2-34477658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6F8E7-82E5-48FA-86D9-02703205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1회차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25772-EE58-4F10-9041-FB727EBA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방향과 현재 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4D89E-4F27-48D2-96E1-67D5662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북극성 1문장 + 인벤토리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17A2A-D0B5-435D-8E8C-3056A95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623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367D7-95C4-4312-A6C3-F81AFEE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CE63C-BA6A-40EF-9AC8-A22215B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52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2회차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348DF-449F-4436-9355-C27AD40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09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자동 사냥 시스템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4C65F-7A76-49BD-B543-C052FF7A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목적별 통장 + 자동이체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D0E27-A858-4C1F-87AA-463ADCB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623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4987E-4EA8-44A2-A6F7-70E235F7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3EF5D-990F-45AC-BE6A-80FC441F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3회차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4E4B0-D5FD-4608-A4EF-7FDA2DDE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생존과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9C925-9DD1-4D08-9414-F30FBDE8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생존 규칙 + 12주 플랜</a:t>
            </a:r>
          </a:p>
        </p:txBody>
      </p:sp>
    </p:spTree>
    <p:extLst>
      <p:ext uri="{BB962C8B-B14F-4D97-AF65-F5344CB8AC3E}">
        <p14:creationId xmlns:p14="http://schemas.microsoft.com/office/powerpoint/2010/main" val="5772471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9ED48-11D7-41B0-957E-D4DDE8D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921A-3F89-4233-84BA-7B182E1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90D92-C421-49CB-8A01-A1270BA9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036F29A-6A10-4001-BDBC-00BA06A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18DA6B9-88C5-453D-B08A-D9087C6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SESSION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BBB1F-03A0-4BB6-B188-CB0AF1DE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74992-1D7C-4BBE-ADFE-510466A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429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지도보다 먼저 나침반과 인벤토리가 필요하다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870C-A80F-4FDD-B0E2-162B2C2F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29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rPr>
              <a:t>오늘은 투자 상품이 아니라 방향과 현재 좌표를 고정한다.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3963396954c64"/>
          <a:srcRect xmlns:a="http://schemas.openxmlformats.org/drawingml/2006/main" l="9152" t="0" r="9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742950"/>
            <a:ext cx="3429000" cy="2362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C6FE1-C0B7-4E0D-BF3C-289CC06D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004B4-00FF-4B32-B19F-F5CEF06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북극성 1문장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87BE7-2465-4A53-9636-9B1A13A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1325B-1DAC-41AD-ACA2-6593AAC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SMART 목표 1개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E58D4-123D-42BC-B0E4-595BC1DB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60F38-A12D-4BC6-AE72-9ECFAED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현재 좌표 초안</a:t>
            </a:r>
          </a:p>
        </p:txBody>
      </p:sp>
    </p:spTree>
    <p:extLst>
      <p:ext uri="{BB962C8B-B14F-4D97-AF65-F5344CB8AC3E}">
        <p14:creationId xmlns:p14="http://schemas.microsoft.com/office/powerpoint/2010/main" val="17562838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CCE33-3BAB-40FD-8E9C-B009597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A5B03-57D4-4F21-8007-1BD4A64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E754D-8BA0-4910-BB43-82AE661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3CDB5A3-4D29-48C3-B278-3BF7305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26EDF87-6233-43D2-A5F5-C3E6C3C6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3EB94-61C5-454F-BCA7-7FEE2C4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4D238-418D-4A5D-A4DC-8D8B3E8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부의 게임은 완벽한 정답 찾기가 아니라 오래 남는 게임이다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4A286-A1CF-405A-9972-EDACE358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6DF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AA8A3-D796-4F9E-BA1D-D2EA1D4D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A2887-6A45-4A13-A7A2-AADA49B2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5A5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45A52"/>
                </a:solidFill>
                <a:latin typeface="Aptos"/>
                <a:ea typeface="Aptos"/>
                <a:cs typeface="Aptos"/>
              </a:rPr>
              <a:t>로그아웃을 부르는 습관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A19DD-3899-45BD-8821-3C54FE5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오래 남게 하는 기본값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C9ED9-B709-4755-B522-0C5B54BA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114C3-B5CD-4632-BB02-7D76244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완벽한 타이밍 기다리기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68E9C-B0F2-41D0-9A86-68256D9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53B41-CAB2-4223-90D3-8FA7E30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남의 수익률과 비교하기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BDC76-A0B5-4052-9DA1-C2FC49DC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10528-2870-4D89-BAA7-D6052094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조급해서 크게 베팅하기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A3D1E-9B28-4D14-8C2D-E3BBD90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C8610-C899-4A0C-933E-FA9AE2B9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생활비와 비상금 지키기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376AA-4E4E-4860-BFFB-5F36E9BC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334F0-4895-48DE-A214-949E57D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내 북극성에 맞춰 선택하기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F6625-249F-4C4B-B204-62C1E445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24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3A197-D025-4F1F-84E5-71290E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작게 시작하고 반복하기</a:t>
            </a:r>
          </a:p>
        </p:txBody>
      </p:sp>
    </p:spTree>
    <p:extLst>
      <p:ext uri="{BB962C8B-B14F-4D97-AF65-F5344CB8AC3E}">
        <p14:creationId xmlns:p14="http://schemas.microsoft.com/office/powerpoint/2010/main" val="2143225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2008F-1E9D-4FE0-A2FA-8CD71D0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362CA-8B8B-4C2C-B705-E7EE7282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AC698-98A7-423A-8007-32F02AE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3356FA14-7F50-43C7-B765-BCBB8617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289C2A3-0622-4DA7-B18D-8417CD20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NORTH 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FBAF5-81C9-4B84-83E6-F8D12970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3740C-2B72-44DD-946D-69FE235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돈으로 지키고 싶은 삶의 장면을 먼저 적는다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2794-7880-4682-88DC-36B78171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933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AB99B-BA48-4C9F-923C-E14227B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돈으로 지키고 싶은 삶의 장면은 ________이다.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090DA-3DED-483F-BC9D-26A809B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0F00F-8239-4764-A6F6-5A02B0F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저녁이 있는 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7CB81-B6E4-4A68-89C3-BC3B0F2C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E3D57-26B2-4C0C-A045-BDCB6FB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월급이 늦어도 무너지지 않는 안정감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87A52-1469-44BF-BBAA-52DC4B5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9E312-FA26-453F-9B1A-808EB3E9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가족과의 시간을 지키는 주거 선택권</a:t>
            </a:r>
          </a:p>
        </p:txBody>
      </p:sp>
    </p:spTree>
    <p:extLst>
      <p:ext uri="{BB962C8B-B14F-4D97-AF65-F5344CB8AC3E}">
        <p14:creationId xmlns:p14="http://schemas.microsoft.com/office/powerpoint/2010/main" val="10903763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69BE6-7F1B-49E2-84BF-AD74DFB0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ED06A-61BD-449D-AC18-B8387DF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1000F-E98A-4F5B-97A0-60E28C57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801BC5B-BF21-4B20-A182-3316F89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1BD585E-7AF9-4B5D-8E8D-5EB002B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SMART DOCKING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2B4DA-4B68-4FBD-8E53-40A5BB2A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6C83A-64B8-47BD-8929-8B98C13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북극성은 숫자와 반복 행동을 만나야 움직인다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81958-6B9C-464C-8ABC-A7E73242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895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17E72-46FE-4EC2-A3B1-F60D32A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나는 [북극성]을 위해 [기한]까지 [금액/상태]를 만들고,</a:t>
            </a:r>
          </a:p>
          <a:p xmlns:a="http://schemas.openxmlformats.org/drawingml/2006/main">
            <a:pPr algn="ctr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매달 [행동]을 반복한다.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1E730-44AC-47A7-B85C-4A409651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F2C13-8215-4B5F-9A1A-7A4FD16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43425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기한은 임시로 둬도 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17057-E660-4999-A7FF-118D032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70D51-EB3B-4411-A1BA-0A5DF94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00625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금액을 모르면 범위로 적는다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B597C-4315-4102-ABC6-56FAF61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B0CF6-EB98-42E4-B6B3-6F8EFAC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57825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행동은 매달 반복 가능한 수준으로 줄인다</a:t>
            </a:r>
          </a:p>
        </p:txBody>
      </p:sp>
    </p:spTree>
    <p:extLst>
      <p:ext uri="{BB962C8B-B14F-4D97-AF65-F5344CB8AC3E}">
        <p14:creationId xmlns:p14="http://schemas.microsoft.com/office/powerpoint/2010/main" val="1280403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F1C19-5475-4D6C-A47B-C3DDF75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C2B6F-AE40-4F6E-A92F-F98084B0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D35C4-E79D-403E-8E01-D05AEBF5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70100F5-A342-4D39-A079-199738C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C60B9541-3B96-4558-B320-59E34FC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9096D-8F31-4374-9DEA-F649747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0BC84-43F7-4647-885E-711359A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인벤토리는 정확한 성적표가 아니라 다음 행동을 고르는 도구다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2F41A-928E-4C01-A300-6A2B7CA9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A1A4E-7476-4C29-B2E2-516DFD74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432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71232-F269-43FD-AB3A-F54595E9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194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정확하지 않아도 적는다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BEA29-4764-40AB-AE61-0971327B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C157B-E4ED-4FC6-AEDF-9B2FB91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432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부채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2F7C4-CEDC-41E8-9DC1-75A89E5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정확하지 않아도 적는다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C7D78-6D75-4109-8925-710C4CF4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E587F-72B0-423C-A5AE-403CD09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957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월수입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10E7D-FA52-4844-92FE-16ADBE9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719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정확하지 않아도 적는다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1B1B6-FBA7-42FF-9472-F9EC618D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67175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DAD6A-D30F-4FEE-9E10-C79C8736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957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월지출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E4939-6E11-4BF1-BD64-E2C3C66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719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정확하지 않아도 적는다</a:t>
            </a:r>
          </a:p>
        </p:txBody>
      </p:sp>
    </p:spTree>
    <p:extLst>
      <p:ext uri="{BB962C8B-B14F-4D97-AF65-F5344CB8AC3E}">
        <p14:creationId xmlns:p14="http://schemas.microsoft.com/office/powerpoint/2010/main" val="1166164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D51886-7237-4856-A5AF-C9CADF1D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44DAE-CE1E-4942-ADBE-6370815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09BD-4004-4171-ACA4-4436227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5F7B7AB2-A950-4DA3-AD61-7A3E85E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D911474-4404-49B8-B7B0-6328BDE4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INTERPRET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69A17-4F67-4BFC-8DA7-C6AAFB1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F361-3674-46A6-9AEC-1CE03E5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현재 좌표에서 이번 주에 움직일 항목 하나만 고른다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BCBBC-9DD4-4813-82CB-E2FF770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611CD-5F31-454B-ADCE-77E8600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새는 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C9974-F30A-45A8-86EE-BEA66F7F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97181-68FB-44B5-9DFC-BAD7D985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반복 구독, 충동 결제, 비교 소비 중 하나를 찾는다.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97A6A-4E48-46A0-928A-6D589826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34CED-284E-44CA-A497-24493B99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잠자는 자산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7B813-1A1B-4A62-A0AD-5E8889D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812F7-FE81-4400-AD8F-5CD3E22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그냥 머물러 있는 돈이 어떤 역할을 해야 하는지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48E23-F377-4E31-96BF-11C0CD48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37E36-6180-468D-AFAD-FEB62D6D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확인할 숫자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6187A-03A1-4914-BAAC-A2F9A9EC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5A5A4-ACB8-486C-9CBD-A9C9AF39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모르는 숫자 3개만 다음 회차 전까지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289617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68626-E7ED-4227-8E21-50AB326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1B53-5998-4394-9048-5C081E24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82786-598E-49AB-A07C-AE786AE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42F3C48-0019-4361-A400-846CEC1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215FD822-4E04-413F-B69B-5A22A50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HOMEWORK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1C544-534C-4986-A0F2-25841C6C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8416-6D75-4A67-8B0A-8FC5F87A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숙제는 10분 안에 끝나는 두 가지로 충분하다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16671-DED4-40E9-B73F-10A99D9F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FFA99-DC63-4A8D-AC2A-9AE68F8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9974D"/>
                </a:solidFill>
                <a:latin typeface="Aptos"/>
                <a:ea typeface="Aptos"/>
                <a:cs typeface="Aptos"/>
              </a:rPr>
              <a:t>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CCE00-904D-47CC-8A62-84BA89E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모름으로 둔 숫자 3개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D8622-7DE2-4384-98ED-EB42048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3E70-C551-4059-B9A7-B856FD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71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9974D"/>
                </a:solidFill>
                <a:latin typeface="Aptos"/>
                <a:ea typeface="Aptos"/>
                <a:cs typeface="Aptos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E3B8-38B1-4197-AFEA-7BEE4FC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290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월급날 또는 수입 입금일 이후 돈 흐름 적어오기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9380C-4515-483B-A5C0-6298E53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다음 회차에서는 이 숫자를 자동 사냥 시스템으로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7977349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7C71D-FC8D-4DC5-B346-5E4E9DF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68EA1-77AE-4D67-9672-E98B9A1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EB992-8964-4B97-8ADE-14908A1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9677257F-C75C-4C5E-B39E-787AF94E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ABA4B38-BDB6-47DF-8D89-9E12278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SESSION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52A8B-AAA7-4F3F-BC2C-66373EE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BE2B1-7DEC-40DA-8405-9733C248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429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의지력 대신 월급날 이후 자동으로 흐르는 구조를 만든다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AF2C7-9B02-4D30-BCC5-EC86CD5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29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rPr>
              <a:t>작은 자동화가 감정이 흔들릴 때 기본값을 지킨다.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e6b187ad74eec"/>
          <a:srcRect xmlns:a="http://schemas.openxmlformats.org/drawingml/2006/main" l="9152" t="0" r="9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742950"/>
            <a:ext cx="3429000" cy="2362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FDA56-000A-43A6-B81A-41FB9E2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DDD31-1549-4405-A27B-114FC2B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목적별 통장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1AB98-93B2-4619-B401-83AF0EE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543BC-8F66-4856-A6B2-CE8EC8A7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자동이체 1~3개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D98CE-4306-4877-95EF-F7B920C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192FC-BD74-4A19-8E17-BA9E87C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월 1회 점검일</a:t>
            </a:r>
          </a:p>
        </p:txBody>
      </p:sp>
    </p:spTree>
    <p:extLst>
      <p:ext uri="{BB962C8B-B14F-4D97-AF65-F5344CB8AC3E}">
        <p14:creationId xmlns:p14="http://schemas.microsoft.com/office/powerpoint/2010/main" val="14952007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6925D-314F-45A4-A6BB-8035460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60E38-5344-403F-84C8-BFD33024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49227-F518-4A73-81F2-CC58F26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1A18A831-13AF-4060-A1A2-6F2D68AB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DBFFFF5-8E93-455F-BBC0-9E743FE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AUTO-FARMING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4F9A1-9E76-4F88-A8C1-DC68FE3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6227C-EFD8-41A1-BF71-F01FCB48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돈은 들어온 뒤에 고민하지 말고 먼저 역할대로 흐르게 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DD256-1BE9-45D8-9E9E-25B8201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D4A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CA992-90E4-405E-8FC7-ABBF887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F8F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8F1"/>
                </a:solidFill>
                <a:latin typeface="Aptos"/>
                <a:ea typeface="Aptos"/>
                <a:cs typeface="Aptos"/>
              </a:rPr>
              <a:t>수입 입금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854CB-2643-4DE4-A298-D3121D1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957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828A6-97BC-4BDE-A89C-AC1F5C23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256A7-7338-4397-B1CD-9652D29F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비상금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FFBED-A489-4787-B9F4-D2253E0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CDF47-9D7F-46F2-A9DC-850F121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554F9-F6D2-419E-8148-337D3B6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저축/투자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0E4AD-DEA6-4607-BC74-BD001E6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957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D34D1-CFED-452B-95A2-386A739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22ECA-169F-4AB7-A67A-85628D95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생활비</a:t>
            </a:r>
          </a:p>
        </p:txBody>
      </p:sp>
    </p:spTree>
    <p:extLst>
      <p:ext uri="{BB962C8B-B14F-4D97-AF65-F5344CB8AC3E}">
        <p14:creationId xmlns:p14="http://schemas.microsoft.com/office/powerpoint/2010/main" val="21228798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E08DF-D863-42E9-AC80-7E5DA398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73900-2CF8-4335-BB11-E871F62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87A38-3A58-4A83-8B99-C79E940E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11FDD90-648F-4AD8-B3DE-8A6E313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BC050D5-00B2-4BF9-9632-F853DF4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ACCOUNT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0A992-0A6C-4BDB-9A26-068BBE9C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4971C-04AC-4B47-A907-B7E92610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통장은 이름보다 역할이 먼저다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C03BE-80D9-49AC-BAC3-6808270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85B10-75AA-4BEB-9E61-4C7C864F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생활비 통장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A295F-6F01-46BC-AFF8-5332468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A39BC-CF48-47C0-9827-700B6A5F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이번 달에 실제로 써도 되는 돈을 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7CED8-3A8E-41FF-A559-30F3BCA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93C19-3988-4A48-A474-8B07309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비상금 통장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DEB37-E92A-4E21-99FB-EE87273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4C32F-7491-4F40-9E4A-84C2D3C5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갑작스러운 지출 때문에 투자 자산을 팔지 않게 지킨다.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C80B8-C6CC-4FE6-BF8C-118BEC9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A3F33-43F9-487F-8F98-0DBD7A1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저축·투자 통장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96895-D88E-40F0-A2AB-888687EF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1EE6B-CA11-4B3B-93B9-40A4ACF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월급날 이후 먼저 빠져나가 장기 목표로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2088119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98D38-74A3-4518-BA6A-C1B649C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FFE02-DAC0-407A-869C-2E5155C2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31D7-C2EF-43E4-83E7-17154DC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6B509524-D44D-4368-A293-64581E2B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DC5D0832-A389-4695-9CFA-2556748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FIRST SWITCH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4F59F-6354-4321-9F19-C8E06109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B1CF7-F3F5-4E93-AB11-AB08DFC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62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이번 주에 켤 자동화는 하나면 충분하다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5F1B-22D9-405D-B412-82AB68C8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B535D-90DE-4050-841D-8588AC9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A6DBB-5FFE-4E6F-868F-CAECC9A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0510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비상금 자동이체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60143-8493-4BCD-AAFB-8DB275E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AB62D-8C77-4DE8-A39A-26825D8B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162E9-A492-488A-8DAD-68F65676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861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장기 적립 자동이체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D241F-53B4-43CD-8959-E99024AA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529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465D0-8B9E-4DF2-8389-78B31DDC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53CD0-250D-4BEE-B18B-019A674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6720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단기 목적 자금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ABF27-7A17-4D35-8DF5-47B4266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57875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가장 작게, 가장 확실하게 켤 수 있는 스위치는?</a:t>
            </a:r>
          </a:p>
        </p:txBody>
      </p:sp>
    </p:spTree>
    <p:extLst>
      <p:ext uri="{BB962C8B-B14F-4D97-AF65-F5344CB8AC3E}">
        <p14:creationId xmlns:p14="http://schemas.microsoft.com/office/powerpoint/2010/main" val="57974278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6558A-AB48-4639-801F-35A59FF4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2DBBF-655A-4200-B739-3E15C82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F2868-C0B9-410E-BCCB-02E507D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B377C6E9-E986-45E6-AB82-31E6B1C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814FD0E2-2D1E-4B91-89CB-6F74CB27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REASONABLE INVESTING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276FE-2DD6-4F6A-A20D-8DB5781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56384-2B5E-412F-88F4-065F874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오래 지킬 수 있는 투자는 생활비와 수면을 먼저 지킨다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D3542-B61C-4B92-98B0-06B4DAC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97EB3-6988-4663-8315-91535DA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62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4136E-8852-4795-A596-7805736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0375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생활비를 침범하지 않는다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C2845-2E23-421A-9F2D-CA78109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3A719-290C-456B-96EF-77791CF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FEF5E-C6EF-4739-B090-2941E749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비상금을 건드리지 않는다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BA5DD-2F67-42F5-97FE-F68A97A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4AB68-36AE-45E3-BA15-CD9923C5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B4450-6164-42BC-A9A6-DCE6B17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14875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하락장에도 끄지 않을 수 있다</a:t>
            </a:r>
          </a:p>
        </p:txBody>
      </p:sp>
    </p:spTree>
    <p:extLst>
      <p:ext uri="{BB962C8B-B14F-4D97-AF65-F5344CB8AC3E}">
        <p14:creationId xmlns:p14="http://schemas.microsoft.com/office/powerpoint/2010/main" val="6859755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45416-986C-4DEF-B566-6EDDB1A0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5F23-7505-4926-B228-3D2C159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E2938-594B-46F7-8A7E-978C4C6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647AB829-84BA-4194-B45D-BFA72BB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FA124D97-06BE-4B9F-B038-7726964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LEAK 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A0E45-E4C4-4E8F-84E5-84797CA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070CC-3798-49B8-BE40-E9EE36F3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새는 돈 하나만 막아도 시스템은 가벼워진다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BB551-1935-47E9-B227-2FAE30C3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D33F7-C287-4BF1-8BAB-22D65CB2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반복 구독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918FF-5B22-4B64-A118-3E6C4125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A5DB6-A835-4330-BBDE-B8B275AE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쓰지 않지만 매달 빠져나가는 비용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D526B-B4FD-4487-B651-0513111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3811E-4A46-4C8A-A095-3FA293C3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충동 소비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DF9A1-6E79-40BF-9A11-4B59A29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73C99-4AD1-4ADB-AA11-02228CF3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기분이 흔들릴 때 반복되는 결제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1CE2D-6262-4A98-9D51-F30A2E4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095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B23E8-9C71-4410-99ED-B75CDE6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0375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비교 소비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A01FC-BA77-4F0A-B1B4-55209F3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B1D06-7922-4361-9611-7808B9F2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내 북극성과 맞지 않는 체면 비용</a:t>
            </a:r>
          </a:p>
        </p:txBody>
      </p:sp>
    </p:spTree>
    <p:extLst>
      <p:ext uri="{BB962C8B-B14F-4D97-AF65-F5344CB8AC3E}">
        <p14:creationId xmlns:p14="http://schemas.microsoft.com/office/powerpoint/2010/main" val="229263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E78BC-3DE6-44A8-A0EF-02C4BD3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8AE47-F382-4721-BB2E-7A73B6D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CA6D7-8672-480D-808E-A746919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A6AE1A88-73F0-4D49-B689-A29F8FB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C83E567A-5DAA-4F1F-9FA1-23A0225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HOMEWORK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FFBA9-9981-4854-A898-6C0C80F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A4B4B-712C-4321-8CE7-B8B838E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자동화는 성공보다 실행 데이터를 남기는 것이 먼저다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B5FDA-87EF-46FD-AF7F-A6544763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AC336-F707-498D-871E-38FEC31E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9974D"/>
                </a:solidFill>
                <a:latin typeface="Aptos"/>
                <a:ea typeface="Aptos"/>
                <a:cs typeface="Aptos"/>
              </a:rPr>
              <a:t>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ABF6E-FF11-492C-8E1B-940109B7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자동이체 1개 또는 통장 분리 1개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DAB1F-1A53-456B-957E-6F7F61F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C35EA-DF3E-49C1-AFE7-F69C9F7F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71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9974D"/>
                </a:solidFill>
                <a:latin typeface="Aptos"/>
                <a:ea typeface="Aptos"/>
                <a:cs typeface="Aptos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7E0B5-9002-4F21-89F9-8C84579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290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실패하면 이유 한 줄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E4443-2D24-42DD-9BB0-8BD2ACF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막히면 금액, 날짜, 계좌 구조를 줄여서 다시 켠다.</a:t>
            </a:r>
          </a:p>
        </p:txBody>
      </p:sp>
    </p:spTree>
    <p:extLst>
      <p:ext uri="{BB962C8B-B14F-4D97-AF65-F5344CB8AC3E}">
        <p14:creationId xmlns:p14="http://schemas.microsoft.com/office/powerpoint/2010/main" val="17937350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11737-5F90-4791-B832-53BB9104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11E98-B629-49A1-9902-E38EFAB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09293-977C-4BE5-93F2-A2B5EC9A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3D3F84CC-8E5E-452D-9FA0-F275F25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56535223-1763-4210-B7E1-3DE9F4F3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SESSION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2F177-BFFE-4F3C-8560-99B4FCAE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9AD3D-C997-412C-AC43-12694EC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429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빠르게 이기는 것보다 로그아웃하지 않는 것이 먼저다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CD7AE-EE6C-4947-9BAE-2961A667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29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56F"/>
                </a:solidFill>
                <a:latin typeface="Apple SD Gothic Neo"/>
                <a:ea typeface="Apple SD Gothic Neo"/>
                <a:cs typeface="Apple SD Gothic Neo"/>
              </a:rPr>
              <a:t>마지막 회차는 시스템이 꺼지지 않도록 방어선을 긋는 시간이다.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e189bbf26443b"/>
          <a:srcRect xmlns:a="http://schemas.openxmlformats.org/drawingml/2006/main" l="9152" t="0" r="9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742950"/>
            <a:ext cx="3429000" cy="2362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B1CC1-B1A8-4244-89DA-037DD5F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785C2-CC2F-4A41-ABF6-A8377739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생존 규칙 3줄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6BCAC-EEA2-4A1A-AE75-A75816F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CA356-C720-44AA-A01A-54C1C9D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자산 역할 분담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4BE35-3B00-43B8-94D9-4E780A0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A218E-C21A-4FBC-88B3-08D09408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12주 실행 플랜</a:t>
            </a:r>
          </a:p>
        </p:txBody>
      </p:sp>
    </p:spTree>
    <p:extLst>
      <p:ext uri="{BB962C8B-B14F-4D97-AF65-F5344CB8AC3E}">
        <p14:creationId xmlns:p14="http://schemas.microsoft.com/office/powerpoint/2010/main" val="18586713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C3D22-6066-4DFF-8D5A-C405B7D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1160-A64E-4489-8E1E-C17ACF3C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9975-6D57-4457-8809-88034C9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9000A0F0-C240-498F-AF26-B69DB06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C51A73BD-FA2D-422B-B163-E5621FD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EMERGENCY 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28E3B-54C9-4DEC-BC1D-B7BD8CE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58404-3F0A-4E37-A2D3-2FCDE4C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비상금은 시장에서 밀려나지 않게 하는 생존선이다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6A278-87A9-48E6-9A27-C633465F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933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21E95-A4A0-4E5C-BC49-163E3A7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나는 최소 ____개월치 생활비를 비상금으로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CD352-4CF6-4071-993F-986F020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34FD4-B82D-4C25-AD11-4D425AC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수입 안정성이 낮을수록 더 두껍게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96799-0088-43EE-B953-EDA2E000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4B496-A71B-4C35-973E-4913355E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부양가족이 많을수록 더 보수적으로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0ED00-7A5D-4FA6-BC3A-135768C1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1DB30-821F-4E96-A1F8-38E29F1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투자 자산을 급히 팔지 않는 것이 목적</a:t>
            </a:r>
          </a:p>
        </p:txBody>
      </p:sp>
    </p:spTree>
    <p:extLst>
      <p:ext uri="{BB962C8B-B14F-4D97-AF65-F5344CB8AC3E}">
        <p14:creationId xmlns:p14="http://schemas.microsoft.com/office/powerpoint/2010/main" val="14757838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3B80C1-F274-4B23-8AF9-716512AC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5349B-807C-42D1-BCC9-7E9D4B31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10A68-C868-4A26-916B-906369E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E3811EC7-816B-4AEC-8BD0-913DE988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2043EAAC-D0FE-47D1-82BF-8F5A9EC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DO-NOT-DO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702F8-B274-499E-99A6-5102BF4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5FB1E-8120-458A-9764-D7D5701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62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하지 않을 것을 정해야 오래 남는다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F515C-5C0D-45AE-831E-086527E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94F92-4262-4006-90A5-1688B19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43F71-69C1-4D0E-98FD-DF7DC5D0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0510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레버리지 확대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ECF4A-A6C4-4594-82CF-8B58735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2E8A4-280D-423E-8C2E-E33776E8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63B1D-03EC-41A7-AC94-240DD4F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861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생활비로 투자하기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502CD-5B55-45B4-9AE3-0A52C67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529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A2FBC-9AB0-4126-BD5D-07B7873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E12B1-6F42-4DD4-AFA7-8A412B4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6720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충동 매수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5EC0-5B53-4F1B-886F-C249C427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339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B496D-E03F-4E49-99BE-D42BB6C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38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9D8A9-065C-44D2-8475-41F73086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482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남의 수익률 추격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3759D-72AF-41AD-B6F8-7B189153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57875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내 시스템을 가장 쉽게 망가뜨릴 행동은?</a:t>
            </a:r>
          </a:p>
        </p:txBody>
      </p:sp>
    </p:spTree>
    <p:extLst>
      <p:ext uri="{BB962C8B-B14F-4D97-AF65-F5344CB8AC3E}">
        <p14:creationId xmlns:p14="http://schemas.microsoft.com/office/powerpoint/2010/main" val="26579518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35AAD-4548-4435-8D59-01303C90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E058E-4151-4C1D-A38F-36D083C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3F4EB-BDCE-4F80-880A-331A2CC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1A4548FE-65B6-4F7B-93B2-A47BC125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68890678-901C-4FAC-BA08-2E24476F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ASSET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DC387-3BE3-425C-BD66-3DD6EDC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693D-C308-4456-B4D0-3C9B96A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81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자산 배분은 무엇이 오를지 맞히는 게임이 아니라 역할을 나누는 일이다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D8D7B-BD46-4288-ADE5-ABEAECB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D4A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66C6C-0E99-4D46-ACE2-FF1EACFE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765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BF8F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BF8F1"/>
                </a:solidFill>
                <a:latin typeface="Aptos"/>
                <a:ea typeface="Aptos"/>
                <a:cs typeface="Aptos"/>
              </a:rPr>
              <a:t>성장 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FF33A-87CF-40D1-A731-4A9C203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194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1E8"/>
                </a:solidFill>
                <a:latin typeface="Aptos"/>
                <a:ea typeface="Aptos"/>
                <a:cs typeface="Aptos"/>
              </a:rPr>
              <a:t>장기 성장에 참여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D85C2-C5CF-4C57-A3CC-5788020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1F432-7CCD-4976-B71F-2DF18893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방어 자산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35E65-ED3C-4193-98FE-02BDFFF1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388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흔들림 완충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95789-0F2E-4891-8967-A53558C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43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3DA4D-5C98-443D-81A9-FB735A91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959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현금성 자산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C363-ED5A-44A1-8291-12C1F445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6388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비상금과 단기 목적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2D60B-3B34-48D7-BCD7-6C74CC8A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5FC2A-2F58-40E8-9171-3087280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434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E19AB-3C7E-43A9-B1B7-7239BE8F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434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462375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F6A88-63B5-4A12-BAFD-048507E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D80A9-73EF-4184-BD4C-F1E5D48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0BB3A-486C-441B-988C-1FFBDCF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C19A9D31-6A52-453C-8E6A-E3406EC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641C761E-8D54-45FE-A262-5EF92BC1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DOWNTURN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CEAC5-1A5C-419C-9AFE-B97C067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1C441-9477-4B47-8E96-D67F656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하락장 전에 문장을 써두어야 하락장에 시스템을 끄지 않는다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DBEED-180C-4CAC-8783-FFF05053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895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C6F87-13E9-44E4-99B5-7DB4255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나는 ______ 때문에 팔지 않는다.</a:t>
            </a:r>
          </a:p>
          <a:p xmlns:a="http://schemas.openxmlformats.org/drawingml/2006/main">
            <a:pPr algn="ctr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나는 ______만 점검한다.</a:t>
            </a:r>
          </a:p>
          <a:p xmlns:a="http://schemas.openxmlformats.org/drawingml/2006/main">
            <a:pPr algn="ctr">
              <a:defRPr sz="20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나는 ______까지 기다린다.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FE19F-F0B4-4E28-9246-4EE15E1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1E0E5-DADD-4F1B-9A51-128F54E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43425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예측 문장이 아니라 행동 제한 문장으로 쓴다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4CC39-6249-4E51-BDA6-0151E193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45295-F229-45B0-B790-BBBF0B9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00625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뉴스보다 내 비상금과 기간을 먼저 확인한다</a:t>
            </a:r>
          </a:p>
        </p:txBody>
      </p:sp>
    </p:spTree>
    <p:extLst>
      <p:ext uri="{BB962C8B-B14F-4D97-AF65-F5344CB8AC3E}">
        <p14:creationId xmlns:p14="http://schemas.microsoft.com/office/powerpoint/2010/main" val="58723402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477AB-570B-419C-B5C8-BDC315A5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64BF6-47C2-4F3D-8F09-FC49FE2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3EA05-470A-43F5-AD73-9A2865A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49BD654A-8D94-4DE1-A321-CB5E1E9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D8C2190A-DA9D-47F6-9A8B-6D1141C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12-WEEK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E1E48-E8BD-4BE8-9573-7CDDAA4F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2444E-E992-4EE2-A823-794844CA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12주는 확인, 실행, 유지의 세 블록으로 굴린다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8E528-FF0D-4B55-8A85-0A80CDD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952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0CFA3-326E-4D29-A1CD-71AF2FF9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1-4주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92B94-2901-48E7-A77E-0EB2E4E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34761-CA66-4E96-B630-0148248B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243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모름 숫자, 비상금, 첫 자동이체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762F-C9DC-4732-AD63-29481B63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952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D1FA4-A879-486D-86D5-9FC48DB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5-8주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A81EC-EB3B-49CB-9B34-3EA8EFB5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93A81-FC1C-4342-B770-4113882B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243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새는 돈, 적립 가능액, 자산 역할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1312B-56FF-4702-98EF-AF421F4B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952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6E8ED-5E9E-4AE2-9F5C-AA77F332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7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974D"/>
                </a:solidFill>
                <a:latin typeface="Aptos"/>
                <a:ea typeface="Aptos"/>
                <a:cs typeface="Aptos"/>
              </a:rPr>
              <a:t>9-12주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3943F-EDA2-42BC-8756-D8EF9DA7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33B5F-D18C-4DB4-94B1-A43D48F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243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4D4A"/>
                </a:solidFill>
                <a:latin typeface="Aptos"/>
                <a:ea typeface="Aptos"/>
                <a:cs typeface="Aptos"/>
              </a:rPr>
              <a:t>하락장 문장, 점검 주기, 다음 루프</a:t>
            </a:r>
          </a:p>
        </p:txBody>
      </p:sp>
    </p:spTree>
    <p:extLst>
      <p:ext uri="{BB962C8B-B14F-4D97-AF65-F5344CB8AC3E}">
        <p14:creationId xmlns:p14="http://schemas.microsoft.com/office/powerpoint/2010/main" val="142231329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E62A9-E23C-4B2C-B11B-8463251C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E1039-2ED2-423F-9DA7-FFF45A2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1B21-7509-4BD2-9C70-48D29E0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3-marker">
            <a:extLst xmlns:a="http://schemas.openxmlformats.org/drawingml/2006/main">
              <a:ext uri="{FF2B5EF4-FFF2-40B4-BE49-F238E27FC236}">
                <a16:creationId xmlns:a16="http://schemas.microsoft.com/office/drawing/2014/main" id="{4E3FC119-5CA2-4EF8-9BEF-EC61DB0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3-label">
            <a:extLst xmlns:a="http://schemas.openxmlformats.org/drawingml/2006/main">
              <a:ext uri="{FF2B5EF4-FFF2-40B4-BE49-F238E27FC236}">
                <a16:creationId xmlns:a16="http://schemas.microsoft.com/office/drawing/2014/main" id="{9D168484-5220-430F-93BB-B1B4EA4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D4A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CA499-6BDE-4D93-827A-E73407F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983AD-9121-41B1-9BDB-2386C6B0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04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383F"/>
                </a:solidFill>
                <a:latin typeface="Apple SD Gothic Neo"/>
                <a:ea typeface="Apple SD Gothic Neo"/>
                <a:cs typeface="Apple SD Gothic Neo"/>
              </a:rPr>
              <a:t>대충 합리적인 시스템은 오늘의 작은 실행으로 켜진다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3e18becbc43ea"/>
          <a:srcRect xmlns:a="http://schemas.openxmlformats.org/drawingml/2006/main" l="12097" t="0" r="12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5" y="857250"/>
            <a:ext cx="31432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25111-0FA7-4CD3-9143-65F19899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250A-F42A-4E4A-AC68-70487DA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북극성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57895-FC06-43E3-A9C1-A485D04E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62BA-CA97-4A3C-9860-B9AA68B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자동화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CC7EF-6134-4E14-975D-3BA962F7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9F051-E5E4-4508-80B7-37F719A6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생존선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E9CC8-5215-4D5A-8583-D5E965C6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D9C8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31AB9-D09F-4B35-8EB5-033E987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83F"/>
                </a:solidFill>
                <a:latin typeface="Aptos"/>
                <a:ea typeface="Aptos"/>
                <a:cs typeface="Aptos"/>
              </a:rPr>
              <a:t>12주 루프</a:t>
            </a:r>
          </a:p>
        </p:txBody>
      </p:sp>
    </p:spTree>
    <p:extLst>
      <p:ext uri="{BB962C8B-B14F-4D97-AF65-F5344CB8AC3E}">
        <p14:creationId xmlns:p14="http://schemas.microsoft.com/office/powerpoint/2010/main" val="212445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2026-05-10T14:40:01.7550000Z</dcterms:created>
  <dcterms:modified xsi:type="dcterms:W3CDTF">2026-05-10T14:40:01.7550000Z</dcterms:modified>
</coreProperties>
</file>